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  <p:sldMasterId id="2147483670" r:id="rId2"/>
  </p:sldMasterIdLst>
  <p:notesMasterIdLst>
    <p:notesMasterId r:id="rId13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c65e10930_2_6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15" name="Google Shape;115;g34c65e10930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g34c65e10930_2_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add: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Maybe a diagram of our hierarchy (pm, tpm, client, etc)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Results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c65e10930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c65e10930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Add chelsea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c65e10930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c65e10930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-"/>
            </a:pPr>
            <a:r>
              <a:rPr lang="en" sz="2400">
                <a:solidFill>
                  <a:schemeClr val="dk1"/>
                </a:solidFill>
              </a:rPr>
              <a:t>Lower voter turnout for municipal elections because?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-"/>
            </a:pPr>
            <a:r>
              <a:rPr lang="en" sz="2400">
                <a:solidFill>
                  <a:schemeClr val="dk1"/>
                </a:solidFill>
              </a:rPr>
              <a:t>Demographics &amp; voting </a:t>
            </a:r>
            <a:endParaRPr sz="24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-"/>
            </a:pPr>
            <a:r>
              <a:rPr lang="en" sz="2400">
                <a:solidFill>
                  <a:schemeClr val="dk1"/>
                </a:solidFill>
              </a:rPr>
              <a:t>Barriers to voting historically</a:t>
            </a:r>
            <a:r>
              <a:rPr lang="en">
                <a:solidFill>
                  <a:schemeClr val="dk1"/>
                </a:solidFill>
              </a:rPr>
              <a:t>: getting off work, lack of knowledge</a:t>
            </a:r>
            <a:endParaRPr sz="24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-"/>
            </a:pPr>
            <a:r>
              <a:rPr lang="en" sz="2400">
                <a:solidFill>
                  <a:schemeClr val="dk1"/>
                </a:solidFill>
              </a:rPr>
              <a:t>By increasing voter turnout in Chelsea, more voices can be heard/involved in political process</a:t>
            </a:r>
            <a:endParaRPr sz="24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-"/>
            </a:pPr>
            <a:r>
              <a:rPr lang="en"/>
              <a:t>Why? Taking time off of work, lack of knowledge about the election, belief that there is little impact on individual’s lives.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c65e10930_3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c65e10930_3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Why municipal?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200"/>
              <a:buFont typeface="Noto Sans Symbols"/>
              <a:buChar char="-"/>
            </a:pPr>
            <a:r>
              <a:rPr lang="en" sz="1200">
                <a:solidFill>
                  <a:schemeClr val="dk1"/>
                </a:solidFill>
              </a:rPr>
              <a:t>Municipal elections have lower turnout rates even though local elections matter the mo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c65e10930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4c65e10930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Census tract vs precinct vs wards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200"/>
              <a:buFont typeface="Noto Sans Symbols"/>
              <a:buChar char="-"/>
            </a:pPr>
            <a:r>
              <a:rPr lang="en" sz="1200">
                <a:solidFill>
                  <a:schemeClr val="dk1"/>
                </a:solidFill>
              </a:rPr>
              <a:t>Census tract:  small, relatively permanent subdivision of a county used by the U.S. Census Bureau to collect and analyze population data.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200"/>
              <a:buFont typeface="Noto Sans Symbols"/>
              <a:buChar char="-"/>
            </a:pPr>
            <a:r>
              <a:rPr lang="en" sz="1200">
                <a:solidFill>
                  <a:schemeClr val="dk1"/>
                </a:solidFill>
              </a:rPr>
              <a:t>Purpose: Analyzing demographic and economic data, Planning community services and development, Identifying areas for federal or state funding (like opportunity zones, low-income areas, etc.)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200"/>
              <a:buFont typeface="Noto Sans Symbols"/>
              <a:buChar char="-"/>
            </a:pPr>
            <a:r>
              <a:rPr lang="en" sz="1200">
                <a:solidFill>
                  <a:schemeClr val="dk1"/>
                </a:solidFill>
              </a:rPr>
              <a:t>Precinct: geographic area that determines where people go to vote and what appears on their ballot. (which candidates or ballot questions they're eligible to vote on)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200"/>
              <a:buFont typeface="Noto Sans Symbols"/>
              <a:buChar char="-"/>
            </a:pPr>
            <a:r>
              <a:rPr lang="en" sz="1200">
                <a:solidFill>
                  <a:schemeClr val="dk1"/>
                </a:solidFill>
              </a:rPr>
              <a:t>Purpose: helps ensure ballots are tailored to where voters live.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200"/>
              <a:buFont typeface="Noto Sans Symbols"/>
              <a:buChar char="-"/>
            </a:pPr>
            <a:r>
              <a:rPr lang="en" sz="1200">
                <a:solidFill>
                  <a:schemeClr val="dk1"/>
                </a:solidFill>
              </a:rPr>
              <a:t>Ward: A ward is a geographic area of a city, typically made up of multiple precincts.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200"/>
              <a:buFont typeface="Noto Sans Symbols"/>
              <a:buChar char="-"/>
            </a:pPr>
            <a:r>
              <a:rPr lang="en" sz="1200">
                <a:solidFill>
                  <a:schemeClr val="dk1"/>
                </a:solidFill>
              </a:rPr>
              <a:t>Purpose: It's used to organize local elections, especially for city council representation.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675B4"/>
              </a:buClr>
              <a:buSzPts val="1200"/>
              <a:buFont typeface="Noto Sans Symbols"/>
              <a:buChar char="-"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c65e10930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c65e10930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c65e10930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c65e10930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BigQuery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API to get census tract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Voter data provided by SPARK through City of Chelsea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Python for data manipulation and cleaning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Tableau for dashboard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Notion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c65e10930_3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c65e10930_3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Dashboard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What does it show?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What did we learn?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c65e10930_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4c65e10930_3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Supports outreach planning: enables stakeholders to prioritize neighborhoods and demographics for flier distribution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Visualized impact zones: interactive maps allow for real-time filtering based on age, income, education, and past voting history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Guides resource allocation: helps determine where to focus limited outreach budgers for maximum impact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c65e10930_5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c65e10930_5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Dashboard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What does it show?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What did we learn?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4588669"/>
            <a:ext cx="726281" cy="32623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0" y="-57150"/>
            <a:ext cx="9144000" cy="2171700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09600" y="4629150"/>
            <a:ext cx="4664075" cy="205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Boston University</a:t>
            </a: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Kilachand Honors College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685800" y="2400300"/>
            <a:ext cx="77724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  <a:defRPr sz="1800">
                <a:solidFill>
                  <a:srgbClr val="CCCCCC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685800" y="120015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09600" y="571500"/>
            <a:ext cx="7924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7924800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609600" y="571500"/>
            <a:ext cx="7924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3886200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648200" y="1371600"/>
            <a:ext cx="3886200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30238" y="1878806"/>
            <a:ext cx="3868737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788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788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609600" y="571500"/>
            <a:ext cx="7924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1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>
            <a:spLocks noGrp="1"/>
          </p:cNvSpPr>
          <p:nvPr>
            <p:ph type="pic" idx="2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2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/>
        </p:nvSpPr>
        <p:spPr>
          <a:xfrm>
            <a:off x="6477000" y="547688"/>
            <a:ext cx="2303463" cy="373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body" idx="1"/>
          </p:nvPr>
        </p:nvSpPr>
        <p:spPr>
          <a:xfrm>
            <a:off x="609599" y="547134"/>
            <a:ext cx="5638801" cy="373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-32147"/>
            <a:ext cx="9144000" cy="260747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609600" y="571500"/>
            <a:ext cx="79248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7924800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2675B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2675B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09600" y="1143000"/>
            <a:ext cx="79248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Boston University</a:t>
            </a: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Slideshow Title Goes Here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43800" y="4588669"/>
            <a:ext cx="726281" cy="326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8001000" y="571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 baseline="300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09600" y="4629150"/>
            <a:ext cx="4664075" cy="205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Boston University</a:t>
            </a: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Kilachand Honors College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>
            <a:spLocks noGrp="1"/>
          </p:cNvSpPr>
          <p:nvPr>
            <p:ph type="ctrTitle"/>
          </p:nvPr>
        </p:nvSpPr>
        <p:spPr>
          <a:xfrm>
            <a:off x="685800" y="120015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Votes &amp; Voices: Using Data Science to Uncover Voter Turnout Disparities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4"/>
          <p:cNvSpPr txBox="1">
            <a:spLocks noGrp="1"/>
          </p:cNvSpPr>
          <p:nvPr>
            <p:ph type="subTitle" idx="1"/>
          </p:nvPr>
        </p:nvSpPr>
        <p:spPr>
          <a:xfrm>
            <a:off x="685800" y="2400300"/>
            <a:ext cx="77724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rgbClr val="B7B7B7"/>
                </a:solidFill>
              </a:rPr>
              <a:t>Tanvi Chennuru &amp; Cole Whittington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rgbClr val="B7B7B7"/>
                </a:solidFill>
              </a:rPr>
              <a:t>CDS Data Science Capstone</a:t>
            </a:r>
            <a:endParaRPr dirty="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76550" y="551250"/>
            <a:ext cx="2418408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Client &amp; Project</a:t>
            </a:r>
            <a:endParaRPr dirty="0"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250" y="335825"/>
            <a:ext cx="325755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/>
          <p:nvPr/>
        </p:nvSpPr>
        <p:spPr>
          <a:xfrm>
            <a:off x="1608825" y="1358063"/>
            <a:ext cx="7466400" cy="8892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Mission:</a:t>
            </a:r>
            <a:r>
              <a:rPr lang="en" sz="1600" b="1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Enable adults in Eastern MA to overcome racial, social, and economic barriers, in order to access employment and economic development opportunities</a:t>
            </a:r>
            <a:endParaRPr/>
          </a:p>
        </p:txBody>
      </p:sp>
      <p:sp>
        <p:nvSpPr>
          <p:cNvPr id="144" name="Google Shape;144;p27"/>
          <p:cNvSpPr/>
          <p:nvPr/>
        </p:nvSpPr>
        <p:spPr>
          <a:xfrm>
            <a:off x="1608825" y="2335050"/>
            <a:ext cx="7466400" cy="9768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/>
              <a:t>Project Description</a:t>
            </a:r>
            <a:r>
              <a:rPr lang="en" sz="1500" dirty="0"/>
              <a:t>: </a:t>
            </a:r>
            <a:r>
              <a:rPr lang="en" sz="1500" dirty="0">
                <a:solidFill>
                  <a:schemeClr val="dk1"/>
                </a:solidFill>
              </a:rPr>
              <a:t>The goal of this project is to track and utilize voter turnout data to assist efforts in increasing voter turnout in upcoming elections at the local level, specifically in </a:t>
            </a:r>
            <a:r>
              <a:rPr lang="en" sz="1500" i="1" dirty="0">
                <a:solidFill>
                  <a:schemeClr val="dk1"/>
                </a:solidFill>
              </a:rPr>
              <a:t>low-propensity</a:t>
            </a:r>
            <a:r>
              <a:rPr lang="en" sz="1500" dirty="0">
                <a:solidFill>
                  <a:schemeClr val="dk1"/>
                </a:solidFill>
              </a:rPr>
              <a:t> areas.</a:t>
            </a:r>
            <a:endParaRPr sz="1500" dirty="0"/>
          </a:p>
        </p:txBody>
      </p:sp>
      <p:sp>
        <p:nvSpPr>
          <p:cNvPr id="145" name="Google Shape;145;p27"/>
          <p:cNvSpPr/>
          <p:nvPr/>
        </p:nvSpPr>
        <p:spPr>
          <a:xfrm>
            <a:off x="69100" y="1857450"/>
            <a:ext cx="1461300" cy="2389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D24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CD243A"/>
                </a:solidFill>
              </a:rPr>
              <a:t>Low Propensity:</a:t>
            </a:r>
            <a:r>
              <a:rPr lang="en" i="1" dirty="0"/>
              <a:t> </a:t>
            </a:r>
            <a:r>
              <a:rPr lang="en" dirty="0">
                <a:solidFill>
                  <a:schemeClr val="dk1"/>
                </a:solidFill>
              </a:rPr>
              <a:t>individuals who are eligible to vote but have a history of infrequent participation in elections. </a:t>
            </a:r>
            <a:endParaRPr dirty="0"/>
          </a:p>
        </p:txBody>
      </p:sp>
      <p:sp>
        <p:nvSpPr>
          <p:cNvPr id="146" name="Google Shape;146;p27"/>
          <p:cNvSpPr/>
          <p:nvPr/>
        </p:nvSpPr>
        <p:spPr>
          <a:xfrm>
            <a:off x="1608825" y="3401850"/>
            <a:ext cx="7466400" cy="9768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Deliverable</a:t>
            </a:r>
            <a:r>
              <a:rPr lang="en" sz="1200" b="1" dirty="0">
                <a:solidFill>
                  <a:schemeClr val="dk1"/>
                </a:solidFill>
              </a:rPr>
              <a:t>: </a:t>
            </a:r>
            <a:r>
              <a:rPr lang="en" sz="1500" dirty="0">
                <a:solidFill>
                  <a:schemeClr val="dk1"/>
                </a:solidFill>
              </a:rPr>
              <a:t>An interactive dashboard to visualize voters at the precinct level to understand who these low propensity voters (i.e. income level, race/ethnicity, neighborhood)</a:t>
            </a:r>
            <a:endParaRPr sz="1500" b="1" dirty="0"/>
          </a:p>
        </p:txBody>
      </p:sp>
      <p:sp>
        <p:nvSpPr>
          <p:cNvPr id="147" name="Google Shape;147;p27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45" grpId="0" animBg="1"/>
      <p:bldP spid="14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795450" y="1158950"/>
            <a:ext cx="7553100" cy="4716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voter turnout (&lt;15%) for municipal elections are due to barriers to voting </a:t>
            </a:r>
            <a:endParaRPr/>
          </a:p>
        </p:txBody>
      </p:sp>
      <p:sp>
        <p:nvSpPr>
          <p:cNvPr id="153" name="Google Shape;153;p28"/>
          <p:cNvSpPr/>
          <p:nvPr/>
        </p:nvSpPr>
        <p:spPr>
          <a:xfrm>
            <a:off x="1354950" y="1762225"/>
            <a:ext cx="6434100" cy="4716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voters in municipal elections are white, affluent, and/or elder individuals</a:t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2225400" y="2365500"/>
            <a:ext cx="4693200" cy="4125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 </a:t>
            </a:r>
            <a:endParaRPr/>
          </a:p>
        </p:txBody>
      </p:sp>
      <p:sp>
        <p:nvSpPr>
          <p:cNvPr id="155" name="Google Shape;155;p28"/>
          <p:cNvSpPr/>
          <p:nvPr/>
        </p:nvSpPr>
        <p:spPr>
          <a:xfrm>
            <a:off x="343600" y="2909675"/>
            <a:ext cx="2448300" cy="514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Taking time off of work</a:t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3347850" y="2909675"/>
            <a:ext cx="2448300" cy="514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Lack of knowledge about the election</a:t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>
            <a:off x="6352100" y="2909675"/>
            <a:ext cx="2448300" cy="514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Belief that there is little impact on individual’s lives</a:t>
            </a:r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1231350" y="3555850"/>
            <a:ext cx="6681300" cy="919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CD24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CD243A"/>
                </a:solidFill>
              </a:rPr>
              <a:t>Chelsea, MA</a:t>
            </a:r>
            <a:endParaRPr sz="1600" b="1">
              <a:solidFill>
                <a:srgbClr val="CD243A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Within Eastern Massachusetts, Chelsea has a low-voter turnout within municipal elections compared to surrounding cities, </a:t>
            </a:r>
            <a:r>
              <a:rPr lang="en" b="1"/>
              <a:t>and we want to know why!</a:t>
            </a:r>
            <a:endParaRPr b="1"/>
          </a:p>
        </p:txBody>
      </p:sp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376550" y="551250"/>
            <a:ext cx="3856800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 &amp; Importance</a:t>
            </a:r>
            <a:endParaRPr dirty="0"/>
          </a:p>
        </p:txBody>
      </p:sp>
      <p:sp>
        <p:nvSpPr>
          <p:cNvPr id="160" name="Google Shape;160;p28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 animBg="1"/>
      <p:bldP spid="15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/>
          <p:nvPr/>
        </p:nvSpPr>
        <p:spPr>
          <a:xfrm>
            <a:off x="1233888" y="1086000"/>
            <a:ext cx="6676200" cy="850500"/>
          </a:xfrm>
          <a:prstGeom prst="rect">
            <a:avLst/>
          </a:prstGeom>
          <a:solidFill>
            <a:srgbClr val="D53F53">
              <a:alpha val="50000"/>
            </a:srgbClr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Federal</a:t>
            </a:r>
            <a:endParaRPr sz="15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/>
              <a:t>President, Senators, Representatives</a:t>
            </a:r>
            <a:endParaRPr sz="1500" i="1"/>
          </a:p>
        </p:txBody>
      </p:sp>
      <p:sp>
        <p:nvSpPr>
          <p:cNvPr id="166" name="Google Shape;166;p29"/>
          <p:cNvSpPr/>
          <p:nvPr/>
        </p:nvSpPr>
        <p:spPr>
          <a:xfrm>
            <a:off x="1233913" y="1936475"/>
            <a:ext cx="6676200" cy="850500"/>
          </a:xfrm>
          <a:prstGeom prst="rect">
            <a:avLst/>
          </a:prstGeom>
          <a:solidFill>
            <a:srgbClr val="D53F53">
              <a:alpha val="50000"/>
            </a:srgbClr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State</a:t>
            </a:r>
            <a:endParaRPr sz="15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/>
              <a:t>Governor, State Senators, State Representatives</a:t>
            </a:r>
            <a:endParaRPr sz="1500" i="1"/>
          </a:p>
        </p:txBody>
      </p:sp>
      <p:sp>
        <p:nvSpPr>
          <p:cNvPr id="167" name="Google Shape;167;p29"/>
          <p:cNvSpPr/>
          <p:nvPr/>
        </p:nvSpPr>
        <p:spPr>
          <a:xfrm>
            <a:off x="1233913" y="2794350"/>
            <a:ext cx="6676200" cy="850500"/>
          </a:xfrm>
          <a:prstGeom prst="rect">
            <a:avLst/>
          </a:prstGeom>
          <a:solidFill>
            <a:srgbClr val="D53F53">
              <a:alpha val="50000"/>
            </a:srgbClr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Municipal</a:t>
            </a:r>
            <a:endParaRPr sz="15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/>
              <a:t>Mayor, City Council Members, School Board Officials, Sheriffs, etc.</a:t>
            </a:r>
            <a:endParaRPr sz="1500" i="1"/>
          </a:p>
        </p:txBody>
      </p:sp>
      <p:sp>
        <p:nvSpPr>
          <p:cNvPr id="168" name="Google Shape;168;p29"/>
          <p:cNvSpPr/>
          <p:nvPr/>
        </p:nvSpPr>
        <p:spPr>
          <a:xfrm>
            <a:off x="3051288" y="3714575"/>
            <a:ext cx="3041400" cy="833400"/>
          </a:xfrm>
          <a:prstGeom prst="rect">
            <a:avLst/>
          </a:prstGeom>
          <a:solidFill>
            <a:srgbClr val="D53F53">
              <a:alpha val="50000"/>
            </a:srgbClr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You!!!!</a:t>
            </a:r>
            <a:endParaRPr sz="1500" b="1"/>
          </a:p>
        </p:txBody>
      </p:sp>
      <p:sp>
        <p:nvSpPr>
          <p:cNvPr id="169" name="Google Shape;169;p29"/>
          <p:cNvSpPr/>
          <p:nvPr/>
        </p:nvSpPr>
        <p:spPr>
          <a:xfrm>
            <a:off x="6343250" y="3874025"/>
            <a:ext cx="2448300" cy="514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Belief that there is little impact on individual’s lives</a:t>
            </a:r>
            <a:endParaRPr dirty="0"/>
          </a:p>
        </p:txBody>
      </p:sp>
      <p:sp>
        <p:nvSpPr>
          <p:cNvPr id="170" name="Google Shape;170;p29"/>
          <p:cNvSpPr txBox="1">
            <a:spLocks noGrp="1"/>
          </p:cNvSpPr>
          <p:nvPr>
            <p:ph type="title"/>
          </p:nvPr>
        </p:nvSpPr>
        <p:spPr>
          <a:xfrm>
            <a:off x="376550" y="551250"/>
            <a:ext cx="2138100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Elections</a:t>
            </a: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1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/>
          <p:nvPr/>
        </p:nvSpPr>
        <p:spPr>
          <a:xfrm>
            <a:off x="99225" y="3140925"/>
            <a:ext cx="5496900" cy="1307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0"/>
          <p:cNvSpPr/>
          <p:nvPr/>
        </p:nvSpPr>
        <p:spPr>
          <a:xfrm>
            <a:off x="96625" y="1021675"/>
            <a:ext cx="5496900" cy="1838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6203100" y="289725"/>
            <a:ext cx="2583900" cy="2006400"/>
          </a:xfrm>
          <a:prstGeom prst="rect">
            <a:avLst/>
          </a:prstGeom>
          <a:solidFill>
            <a:srgbClr val="D53F53">
              <a:alpha val="5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Ward</a:t>
            </a:r>
            <a:endParaRPr sz="1500"/>
          </a:p>
        </p:txBody>
      </p:sp>
      <p:sp>
        <p:nvSpPr>
          <p:cNvPr id="179" name="Google Shape;179;p30"/>
          <p:cNvSpPr/>
          <p:nvPr/>
        </p:nvSpPr>
        <p:spPr>
          <a:xfrm>
            <a:off x="6203100" y="989025"/>
            <a:ext cx="1438800" cy="1307100"/>
          </a:xfrm>
          <a:prstGeom prst="snip2SameRect">
            <a:avLst>
              <a:gd name="adj1" fmla="val 16667"/>
              <a:gd name="adj2" fmla="val 0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Precinct</a:t>
            </a:r>
            <a:endParaRPr sz="1500"/>
          </a:p>
        </p:txBody>
      </p:sp>
      <p:pic>
        <p:nvPicPr>
          <p:cNvPr id="180" name="Google Shape;180;p30" title="Screenshot 2025-04-08 1959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053" y="2437700"/>
            <a:ext cx="2200448" cy="20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/>
          <p:nvPr/>
        </p:nvSpPr>
        <p:spPr>
          <a:xfrm>
            <a:off x="157051" y="1113414"/>
            <a:ext cx="4100700" cy="7161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Ward</a:t>
            </a:r>
            <a:r>
              <a:rPr lang="en" sz="1500">
                <a:solidFill>
                  <a:schemeClr val="dk1"/>
                </a:solidFill>
              </a:rPr>
              <a:t>: a geographic area of a city, typically made up of multiple precincts</a:t>
            </a:r>
            <a:endParaRPr sz="1500"/>
          </a:p>
        </p:txBody>
      </p:sp>
      <p:sp>
        <p:nvSpPr>
          <p:cNvPr id="182" name="Google Shape;182;p30"/>
          <p:cNvSpPr/>
          <p:nvPr/>
        </p:nvSpPr>
        <p:spPr>
          <a:xfrm>
            <a:off x="152400" y="1953374"/>
            <a:ext cx="4100700" cy="7686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Precinct</a:t>
            </a:r>
            <a:r>
              <a:rPr lang="en" sz="1500">
                <a:solidFill>
                  <a:schemeClr val="dk1"/>
                </a:solidFill>
              </a:rPr>
              <a:t>: a geographic area within a ward that determines where people go to vote and what appears on their ballot</a:t>
            </a:r>
            <a:endParaRPr sz="1500"/>
          </a:p>
        </p:txBody>
      </p:sp>
      <p:sp>
        <p:nvSpPr>
          <p:cNvPr id="183" name="Google Shape;183;p30"/>
          <p:cNvSpPr/>
          <p:nvPr/>
        </p:nvSpPr>
        <p:spPr>
          <a:xfrm>
            <a:off x="157050" y="3294250"/>
            <a:ext cx="4100700" cy="11004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Census tract</a:t>
            </a:r>
            <a:r>
              <a:rPr lang="en" sz="1500">
                <a:solidFill>
                  <a:schemeClr val="dk1"/>
                </a:solidFill>
              </a:rPr>
              <a:t>: small, relatively permanent subdivision of a county used by the U.S. Census Bureau to collect and analyze population data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4385229" y="1561249"/>
            <a:ext cx="11679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Election Data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76550" y="551250"/>
            <a:ext cx="2138100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Context</a:t>
            </a:r>
            <a:endParaRPr dirty="0"/>
          </a:p>
        </p:txBody>
      </p:sp>
      <p:sp>
        <p:nvSpPr>
          <p:cNvPr id="186" name="Google Shape;186;p30"/>
          <p:cNvSpPr txBox="1"/>
          <p:nvPr/>
        </p:nvSpPr>
        <p:spPr>
          <a:xfrm>
            <a:off x="4309700" y="3433175"/>
            <a:ext cx="12864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Population Data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87" name="Google Shape;187;p30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animBg="1"/>
      <p:bldP spid="177" grpId="0" animBg="1"/>
      <p:bldP spid="184" grpId="0"/>
      <p:bldP spid="1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376550" y="551250"/>
            <a:ext cx="2138100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Datasets</a:t>
            </a:r>
            <a:endParaRPr dirty="0"/>
          </a:p>
        </p:txBody>
      </p:sp>
      <p:sp>
        <p:nvSpPr>
          <p:cNvPr id="193" name="Google Shape;193;p31"/>
          <p:cNvSpPr/>
          <p:nvPr/>
        </p:nvSpPr>
        <p:spPr>
          <a:xfrm>
            <a:off x="622251" y="1159900"/>
            <a:ext cx="3325800" cy="31728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Voter Turnout Data:</a:t>
            </a:r>
            <a:endParaRPr sz="1800" b="1"/>
          </a:p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Street address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Political affiliation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Voter ID number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Ward number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Precinct number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Census tract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Date of birth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Date of registration</a:t>
            </a:r>
            <a:endParaRPr sz="1600"/>
          </a:p>
        </p:txBody>
      </p:sp>
      <p:sp>
        <p:nvSpPr>
          <p:cNvPr id="194" name="Google Shape;194;p31"/>
          <p:cNvSpPr/>
          <p:nvPr/>
        </p:nvSpPr>
        <p:spPr>
          <a:xfrm>
            <a:off x="5196100" y="1159900"/>
            <a:ext cx="3325800" cy="31230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Census Data:</a:t>
            </a:r>
            <a:endParaRPr sz="18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Race/Ethnicity proportions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Income distribution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5" name="Google Shape;195;p31"/>
          <p:cNvSpPr/>
          <p:nvPr/>
        </p:nvSpPr>
        <p:spPr>
          <a:xfrm>
            <a:off x="4053463" y="2551900"/>
            <a:ext cx="1037100" cy="3888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rgbClr val="D53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/>
          <p:nvPr/>
        </p:nvSpPr>
        <p:spPr>
          <a:xfrm>
            <a:off x="6934575" y="1328550"/>
            <a:ext cx="2037900" cy="2450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2"/>
          <p:cNvSpPr txBox="1"/>
          <p:nvPr/>
        </p:nvSpPr>
        <p:spPr>
          <a:xfrm>
            <a:off x="7235975" y="2586650"/>
            <a:ext cx="13188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6666"/>
                </a:solidFill>
              </a:rPr>
              <a:t>Project Management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03" name="Google Shape;203;p32"/>
          <p:cNvSpPr/>
          <p:nvPr/>
        </p:nvSpPr>
        <p:spPr>
          <a:xfrm>
            <a:off x="139725" y="1118650"/>
            <a:ext cx="3251400" cy="134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2"/>
          <p:cNvSpPr txBox="1"/>
          <p:nvPr/>
        </p:nvSpPr>
        <p:spPr>
          <a:xfrm>
            <a:off x="949275" y="2075800"/>
            <a:ext cx="1776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6666"/>
                </a:solidFill>
              </a:rPr>
              <a:t>Data Collection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3523500" y="2630650"/>
            <a:ext cx="3251400" cy="1416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2"/>
          <p:cNvSpPr txBox="1"/>
          <p:nvPr/>
        </p:nvSpPr>
        <p:spPr>
          <a:xfrm>
            <a:off x="4078675" y="3579350"/>
            <a:ext cx="1950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6666"/>
                </a:solidFill>
              </a:rPr>
              <a:t>Data Visualization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170700" y="2630575"/>
            <a:ext cx="3229200" cy="1416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2"/>
          <p:cNvSpPr txBox="1"/>
          <p:nvPr/>
        </p:nvSpPr>
        <p:spPr>
          <a:xfrm>
            <a:off x="656025" y="3577925"/>
            <a:ext cx="17172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6666"/>
                </a:solidFill>
              </a:rPr>
              <a:t>Data Analysis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3512100" y="1119000"/>
            <a:ext cx="3229200" cy="134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title"/>
          </p:nvPr>
        </p:nvSpPr>
        <p:spPr>
          <a:xfrm>
            <a:off x="376550" y="551250"/>
            <a:ext cx="2138100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733" y="1143375"/>
            <a:ext cx="2340192" cy="10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/>
          <p:nvPr/>
        </p:nvSpPr>
        <p:spPr>
          <a:xfrm>
            <a:off x="4545025" y="2077900"/>
            <a:ext cx="17766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6666"/>
                </a:solidFill>
              </a:rPr>
              <a:t>Data Storage</a:t>
            </a:r>
            <a:endParaRPr sz="1500">
              <a:solidFill>
                <a:srgbClr val="666666"/>
              </a:solidFill>
            </a:endParaRPr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8663" y="2459355"/>
            <a:ext cx="2340198" cy="131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6400" y="1546825"/>
            <a:ext cx="1717200" cy="9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250" y="2795251"/>
            <a:ext cx="2611133" cy="78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63592" y="1169750"/>
            <a:ext cx="1807211" cy="1022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7925" y="1358588"/>
            <a:ext cx="644575" cy="6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map&#10;&#10;AI-generated content may be incorrect.">
            <a:extLst>
              <a:ext uri="{FF2B5EF4-FFF2-40B4-BE49-F238E27FC236}">
                <a16:creationId xmlns:a16="http://schemas.microsoft.com/office/drawing/2014/main" id="{DBD6B3C8-35D9-0DFF-9BFE-4AE429FA7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016" y="2354742"/>
            <a:ext cx="3687925" cy="2704818"/>
          </a:xfrm>
          <a:prstGeom prst="rect">
            <a:avLst/>
          </a:prstGeom>
        </p:spPr>
      </p:pic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376550" y="551250"/>
            <a:ext cx="2138100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map with numbers and a number of people in the middle&#10;&#10;AI-generated content may be incorrect.">
            <a:extLst>
              <a:ext uri="{FF2B5EF4-FFF2-40B4-BE49-F238E27FC236}">
                <a16:creationId xmlns:a16="http://schemas.microsoft.com/office/drawing/2014/main" id="{55DF9D49-73ED-F4F5-EAC7-148F34E47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447" y="227316"/>
            <a:ext cx="3897436" cy="295389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5ECCA6-7707-E28C-C7FA-6FB4D09B7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357" y="383872"/>
            <a:ext cx="1415286" cy="2953896"/>
          </a:xfrm>
          <a:prstGeom prst="rect">
            <a:avLst/>
          </a:prstGeom>
        </p:spPr>
      </p:pic>
      <p:pic>
        <p:nvPicPr>
          <p:cNvPr id="9" name="Picture 8" descr="A graph of blue and green bars&#10;&#10;AI-generated content may be incorrect.">
            <a:extLst>
              <a:ext uri="{FF2B5EF4-FFF2-40B4-BE49-F238E27FC236}">
                <a16:creationId xmlns:a16="http://schemas.microsoft.com/office/drawing/2014/main" id="{886D09D1-F94C-1380-6672-D532169B86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57" y="1704264"/>
            <a:ext cx="2673981" cy="27048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2177150"/>
            <a:ext cx="3220500" cy="214643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376550" y="551250"/>
            <a:ext cx="3220500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Impact &amp; Next Steps</a:t>
            </a:r>
            <a:endParaRPr dirty="0"/>
          </a:p>
        </p:txBody>
      </p:sp>
      <p:sp>
        <p:nvSpPr>
          <p:cNvPr id="232" name="Google Shape;232;p34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4"/>
          <p:cNvSpPr/>
          <p:nvPr/>
        </p:nvSpPr>
        <p:spPr>
          <a:xfrm>
            <a:off x="609600" y="1023975"/>
            <a:ext cx="7466400" cy="976800"/>
          </a:xfrm>
          <a:prstGeom prst="roundRect">
            <a:avLst>
              <a:gd name="adj" fmla="val 16667"/>
            </a:avLst>
          </a:prstGeom>
          <a:solidFill>
            <a:srgbClr val="D53F5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Deliverable</a:t>
            </a:r>
            <a:r>
              <a:rPr lang="en" sz="1200" b="1" dirty="0">
                <a:solidFill>
                  <a:schemeClr val="dk1"/>
                </a:solidFill>
              </a:rPr>
              <a:t>: </a:t>
            </a:r>
            <a:r>
              <a:rPr lang="en" sz="1500" dirty="0">
                <a:solidFill>
                  <a:schemeClr val="dk1"/>
                </a:solidFill>
              </a:rPr>
              <a:t>An interactive dashboard to visualize voters at the precinct level to understand who these low propensity voters (i.e. income level, race/ethnicity, neighborhood)</a:t>
            </a:r>
            <a:endParaRPr sz="1500" b="1" dirty="0"/>
          </a:p>
        </p:txBody>
      </p:sp>
      <p:sp>
        <p:nvSpPr>
          <p:cNvPr id="234" name="Google Shape;234;p34"/>
          <p:cNvSpPr/>
          <p:nvPr/>
        </p:nvSpPr>
        <p:spPr>
          <a:xfrm>
            <a:off x="609600" y="1922913"/>
            <a:ext cx="3885000" cy="1087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D53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Impact: 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Supports outreach planning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Eases accessibility for non-experts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Guides resource allocation</a:t>
            </a:r>
            <a:endParaRPr/>
          </a:p>
        </p:txBody>
      </p:sp>
      <p:sp>
        <p:nvSpPr>
          <p:cNvPr id="235" name="Google Shape;235;p34"/>
          <p:cNvSpPr/>
          <p:nvPr/>
        </p:nvSpPr>
        <p:spPr>
          <a:xfrm>
            <a:off x="609600" y="2923900"/>
            <a:ext cx="4947300" cy="1579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D53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Outcomes:</a:t>
            </a: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Increased awareness of voting eligibility and access in underrepresented communities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Improved outreach efficiency and engagement strategy through data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Framework for measuring voter turnout shifts in targeted areas</a:t>
            </a:r>
            <a:endParaRPr dirty="0"/>
          </a:p>
        </p:txBody>
      </p:sp>
      <p:sp>
        <p:nvSpPr>
          <p:cNvPr id="2" name="Google Shape;246;p35">
            <a:extLst>
              <a:ext uri="{FF2B5EF4-FFF2-40B4-BE49-F238E27FC236}">
                <a16:creationId xmlns:a16="http://schemas.microsoft.com/office/drawing/2014/main" id="{999463F9-2CD7-7FD5-4507-F218968A4513}"/>
              </a:ext>
            </a:extLst>
          </p:cNvPr>
          <p:cNvSpPr/>
          <p:nvPr/>
        </p:nvSpPr>
        <p:spPr>
          <a:xfrm>
            <a:off x="894975" y="1203575"/>
            <a:ext cx="7766700" cy="2746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INCREASE VOTER PARTICIPATION IN MUNICIPAL ELECTIONS!!</a:t>
            </a:r>
            <a:endParaRPr sz="3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 animBg="1"/>
      <p:bldP spid="235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>
            <a:spLocks noGrp="1"/>
          </p:cNvSpPr>
          <p:nvPr>
            <p:ph type="title"/>
          </p:nvPr>
        </p:nvSpPr>
        <p:spPr>
          <a:xfrm>
            <a:off x="3160200" y="2314500"/>
            <a:ext cx="2823600" cy="51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 you!</a:t>
            </a:r>
            <a:endParaRPr sz="4000"/>
          </a:p>
        </p:txBody>
      </p:sp>
      <p:sp>
        <p:nvSpPr>
          <p:cNvPr id="252" name="Google Shape;252;p36"/>
          <p:cNvSpPr txBox="1">
            <a:spLocks noGrp="1"/>
          </p:cNvSpPr>
          <p:nvPr>
            <p:ph type="ftr" idx="11"/>
          </p:nvPr>
        </p:nvSpPr>
        <p:spPr>
          <a:xfrm>
            <a:off x="609600" y="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Votes &amp; Voices: Using Data Science to Uncover Voter Turnout Disparities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913</Words>
  <Application>Microsoft Office PowerPoint</Application>
  <PresentationFormat>On-screen Show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Noto Sans Symbols</vt:lpstr>
      <vt:lpstr>Simple Light</vt:lpstr>
      <vt:lpstr>Blank Presentation</vt:lpstr>
      <vt:lpstr>Votes &amp; Voices: Using Data Science to Uncover Voter Turnout Disparities </vt:lpstr>
      <vt:lpstr>Client &amp; Project</vt:lpstr>
      <vt:lpstr>Background &amp; Importance</vt:lpstr>
      <vt:lpstr>Elections</vt:lpstr>
      <vt:lpstr>Context</vt:lpstr>
      <vt:lpstr>Datasets</vt:lpstr>
      <vt:lpstr>Tools</vt:lpstr>
      <vt:lpstr>Results</vt:lpstr>
      <vt:lpstr>Impact &amp; 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Cole Whittington</cp:lastModifiedBy>
  <cp:revision>3</cp:revision>
  <dcterms:modified xsi:type="dcterms:W3CDTF">2025-04-22T22:51:04Z</dcterms:modified>
</cp:coreProperties>
</file>